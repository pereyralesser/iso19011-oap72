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https://www.iso.org/standard/70017.html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https://www.iso.org/standard/70017.html
- https://asq.org/quality-resources/iso-19011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https://www.iso.org/standard/70017.html
- https://www.metrocert.com/files/ISO%2019011-2018.pdf (tabla de contenidos)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1 en índice)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2 en índice)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3 en índice)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4 en índice)
- https://www.isotools.us/2019/02/13/iso-19011-2018-7-principios-de-auditoria/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5 y subcláusulas en índice)
- https://asq.org/quality-resources/iso-19011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6 y subcláusulas en índice)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(Cap. 7 y subcláusulas en índice)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https://www.metrocert.com/files/ISO%2019011-2018.pdf (Anexo A en índice; p.ej. A.1, A.16)
- https://committee.iso.org/files/live/sites/tc176/files/documents/ISO%209001%20Auditing%20Practices%20Group%20docs/Auditing%20General/APG-Remote_Audits.pdf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https://www.iso.org/standard/70017.html
- https://asq.org/quality-resources/iso-19011
- https://committee.iso.org/files/live/sites/tc176/files/documents/ISO%209001%20Auditing%20Practices%20Group%20docs/Auditing%20General/APG-Remote_Audits.pdf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34440"/>
            <a:ext cx="10332720" cy="4754880"/>
          </a:xfrm>
          <a:prstGeom prst="roundRect">
            <a:avLst/>
          </a:prstGeom>
          <a:solidFill>
            <a:srgbClr val="122240">
              <a:alpha val="8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00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 19011:2018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14300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EE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 capítulo por capítulo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auditoría de sistemas de gestión: principios, programa, realización y competencia.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3886200"/>
            <a:ext cx="4389120" cy="82296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449884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estudio (no reemplaza el texto oficial)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(y qué no es) ISO 19011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440680" cy="448056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55648"/>
            <a:ext cx="73152" cy="444398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para auditar sistemas de gestión (uno o varios).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Estandariza principios, programa, ejecución y competencia.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 auditorías internas y externas (p.ej. a proveedores).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897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Meta: auditorías creíbles, útiles y basadas en evidencia.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85232" cy="448056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755648"/>
            <a:ext cx="73152" cy="444398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0195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73752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estándar “certificable”.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reemplaza requisitos de certificación de tercera parte.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checklist universal: exige juicio profesional.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5897880"/>
            <a:ext cx="4873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Usala como método + criterio de calidad de auditoría.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la norma (mapa)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capítulos + Anexo A (guía adicional) + bibliografía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2432304" y="247802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219456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79392" y="247802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219456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26480" y="247802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19456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73568" y="247802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219456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820656" y="247802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219456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Anexo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10972800" cy="29260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429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recomendada (práctica)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8680" y="3840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vas a auditar YA: Cap. 4 + Cap. 6 + Anexo A</a:t>
            </a:r>
            <a:endParaRPr lang="en-US" sz="140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gestionás el sistema: Cap. 5 (y luego Cap. 6)</a:t>
            </a:r>
            <a:endParaRPr lang="en-US" sz="140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armás un equipo: Cap. 7 (competencia y evaluación)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1 — Objeto y campo de aplicación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qué se enfoca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para qué sirve la guía y en qué casos aplica.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 auditorías a objetivos (no a burocracia).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Abarca auditorías a uno o varios sistemas de gestión.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produce en la práctica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auditoría bien formulado.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y criterios definidos (qué sí / qué no).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Expectativas claras para auditado y auditores.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10972800" cy="50292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trazabilidad (criterio → evidencia → hallazgo → conclusión).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2 — Referencias normativas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qué se enfoca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Aclara dependencias documentales para aplicar la guía.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Refuerza que se audita contra criterios controlados.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con requisitos legales/reglamentarios.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produce en la práctica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criterios (normas, políticas, leyes).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versiones en el plan de auditoría.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discusiones por “qué aplica”.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10972800" cy="50292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trazabilidad (criterio → evidencia → hallazgo → conclusión).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3 — Términos y definiciones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qué se enfoca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común: evidencia, hallazgo, conclusión.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roles típicos (auditor, líder, guía, etc.).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ambigüedad y mejora coherencia del informe.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produce en la práctica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Glosario interno y reglas de redacción.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consistente en hallazgos.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Alineación entre auditores (calibración).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10972800" cy="50292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trazabilidad (criterio → evidencia → hallazgo → conclusión).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4 — Principios de auditoría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qué se enfoca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principios: integridad, imparcialidad, confidencialidad, etc.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Sostienen credibilidad y consistencia del proceso.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enfoque basado en evidencia y en riesgos.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produce en la práctica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 decisión cuando la realidad no encaja.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en el informe y aceptación del auditado.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sesgos y “opiniones disfrazadas”.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10972800" cy="50292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trazabilidad (criterio → evidencia → hallazgo → conclusión).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5 — Gestión de un programa de auditoría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el programa como un proceso: objetivos → riesgo → recursos → ejecución → seguimiento → mejora.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2432304" y="234086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205740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oportunidades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79392" y="234086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205740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26480" y="234086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05740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73568" y="234086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205740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820656" y="234086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205740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194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971800"/>
            <a:ext cx="5486400" cy="36118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990088"/>
            <a:ext cx="73152" cy="35753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36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Puntos críticos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352044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por riesgo (impacto × probabilidad).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métodos (presencial/remoto) según viabilidad.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Asignar auditores competentes e independientes.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resultados y tendencias del programa.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2971800"/>
            <a:ext cx="5239512" cy="36118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2990088"/>
            <a:ext cx="73152" cy="35753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13639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Entregables típicos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37960" y="3520440"/>
            <a:ext cx="48280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anual/trimestral con calendario y alcance.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competencias + plan de formación.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Registros: planes, informes, evidencias y seguimiento.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periódica y acciones de mejora del programa.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6 — Realización de una auditoría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“de punta a punta” para una auditoría controlada y repetible.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2432304" y="229514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201168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79392" y="229514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201168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26480" y="229514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01168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73568" y="229514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2011680"/>
            <a:ext cx="1737360" cy="68580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820656" y="2295144"/>
            <a:ext cx="91440" cy="128016"/>
          </a:xfrm>
          <a:prstGeom prst="triangl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2011680"/>
            <a:ext cx="1737360" cy="685800"/>
          </a:xfrm>
          <a:prstGeom prst="roundRect">
            <a:avLst/>
          </a:prstGeom>
          <a:solidFill>
            <a:srgbClr val="12224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971800"/>
            <a:ext cx="5486400" cy="36118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990088"/>
            <a:ext cx="73152" cy="35753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36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 prácticas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352044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por procesos (no solo por áreas).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Triangulación de evidencia (doc + registro + observación).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continua (evita sorpresas en el cierre).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trazables y lenguaje neutral.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2971800"/>
            <a:ext cx="5239512" cy="36118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2990088"/>
            <a:ext cx="73152" cy="35753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13639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37960" y="3520440"/>
            <a:ext cx="48280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con evidencia objetiva.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 respecto a objetivos y criterios.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 distribuido a partes definidas.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acciones correctivas y mejora.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Capítulo 7 — Competencia y evaluación de auditores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qué se enfoca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Competencia = conocimiento + habilidad + conducta personal.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criterios y métodos de evaluación del auditor.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Promueve mejora continua de la competencia.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produce en la práctica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competencias por rol (auditor / líder).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evaluación (observación, revisión de informes).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 de desarrollo y recalibración del equipo.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6172200"/>
            <a:ext cx="10972800" cy="502920"/>
          </a:xfrm>
          <a:prstGeom prst="round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62910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trazabilidad (criterio → evidencia → hallazgo → conclusión).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Anexo A — Orientación adicional (caja de herramientas)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Temas clave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 de auditoría (presencial/remoto) y uso de TIC.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por procesos y juicio profesional.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de información y muestreo.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Cumplimiento, cadena de suministro y entrevistas.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76072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auditorías remotas/mixtas y auditorías integradas.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aplicación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¿Método elegido es viable y seguro (info/privacidad)?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¿Muestreo está justificado por riesgo?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triangulación de evidencia?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¿Reglas de grabación/capturas acordadas?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ISO19011-OAP72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840" y="182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19011:2018 • Auditoría de sistemas de 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cómo sacarle jugo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inteligente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0749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Diseñá el programa (Cap. 5) desde riesgos reales del negocio.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Estandarizá el flujo (Cap. 6) y calibrá redacción de hallazgos.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Invertí en competencia (Cap. 7): es tu control principal.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Usá Anexo A para técnica (muestreo, remoto, entrevistas).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39512" cy="4297680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801368"/>
            <a:ext cx="73152" cy="4261104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4767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 para seguir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82803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oficial ISO 19011:2018 (descripción y vigencia).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ASQ: visión práctica y contexto de uso.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TC 176 APG: notas sobre auditorías remotas.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A9B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propio repositorio: plantillas + lecciones aprendidas.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E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ISO19011-OAP72</dc:creator>
  <cp:lastModifiedBy>ISO19011-OAP72</cp:lastModifiedBy>
  <cp:revision>1</cp:revision>
  <dcterms:created xsi:type="dcterms:W3CDTF">2025-12-26T18:21:44Z</dcterms:created>
  <dcterms:modified xsi:type="dcterms:W3CDTF">2025-12-26T18:21:44Z</dcterms:modified>
</cp:coreProperties>
</file>